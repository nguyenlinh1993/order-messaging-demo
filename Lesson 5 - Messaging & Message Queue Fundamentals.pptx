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6440A-D3CF-4078-BD18-F2F668B16ED4}" v="302" dt="2026-03-25T14:11:56.849"/>
    <p1510:client id="{D22736E3-D520-4BD4-0C0B-B8D0CC4BE31C}" v="41" dt="2026-03-26T03:40:27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1FA9D7-024D-471C-8A12-2AF396B0D2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34C638D-B78A-42CA-ABF5-64AC01B5BA01}">
      <dgm:prSet/>
      <dgm:spPr/>
      <dgm:t>
        <a:bodyPr/>
        <a:lstStyle/>
        <a:p>
          <a:r>
            <a:rPr lang="en-US"/>
            <a:t>The Problem with Synchronous Systems</a:t>
          </a:r>
        </a:p>
      </dgm:t>
    </dgm:pt>
    <dgm:pt modelId="{ABBAE978-A4F0-474D-B1CB-58A1824F36A7}" type="parTrans" cxnId="{B6D68A7C-32A8-40FD-AB70-F1FD21AA0FD6}">
      <dgm:prSet/>
      <dgm:spPr/>
      <dgm:t>
        <a:bodyPr/>
        <a:lstStyle/>
        <a:p>
          <a:endParaRPr lang="en-US"/>
        </a:p>
      </dgm:t>
    </dgm:pt>
    <dgm:pt modelId="{AF47D6FF-D02F-42FA-892D-EDCE72E57F87}" type="sibTrans" cxnId="{B6D68A7C-32A8-40FD-AB70-F1FD21AA0FD6}">
      <dgm:prSet/>
      <dgm:spPr/>
      <dgm:t>
        <a:bodyPr/>
        <a:lstStyle/>
        <a:p>
          <a:endParaRPr lang="en-US"/>
        </a:p>
      </dgm:t>
    </dgm:pt>
    <dgm:pt modelId="{34DE9A13-5AD5-4F61-B1FF-8E6C42DA50B3}">
      <dgm:prSet/>
      <dgm:spPr/>
      <dgm:t>
        <a:bodyPr/>
        <a:lstStyle/>
        <a:p>
          <a:r>
            <a:rPr lang="en-US"/>
            <a:t>Messaging Fundamentals</a:t>
          </a:r>
        </a:p>
      </dgm:t>
    </dgm:pt>
    <dgm:pt modelId="{61603699-9972-4624-9B16-96C4C653B951}" type="parTrans" cxnId="{DD2A8976-52B7-48A8-93EB-95517F18243C}">
      <dgm:prSet/>
      <dgm:spPr/>
      <dgm:t>
        <a:bodyPr/>
        <a:lstStyle/>
        <a:p>
          <a:endParaRPr lang="en-US"/>
        </a:p>
      </dgm:t>
    </dgm:pt>
    <dgm:pt modelId="{E63B5D80-368A-481C-BECE-EDA0C7C04C04}" type="sibTrans" cxnId="{DD2A8976-52B7-48A8-93EB-95517F18243C}">
      <dgm:prSet/>
      <dgm:spPr/>
      <dgm:t>
        <a:bodyPr/>
        <a:lstStyle/>
        <a:p>
          <a:endParaRPr lang="en-US"/>
        </a:p>
      </dgm:t>
    </dgm:pt>
    <dgm:pt modelId="{028750BC-396D-4767-A007-2F492DD2DD94}">
      <dgm:prSet/>
      <dgm:spPr/>
      <dgm:t>
        <a:bodyPr/>
        <a:lstStyle/>
        <a:p>
          <a:r>
            <a:rPr lang="en-US"/>
            <a:t>Delivery Guarantees &amp; Use Cases</a:t>
          </a:r>
        </a:p>
      </dgm:t>
    </dgm:pt>
    <dgm:pt modelId="{CC2A702D-6D0F-498F-9DA7-CE323D85BA77}" type="parTrans" cxnId="{A0AEEB7F-8268-4DE6-BE20-1C27FE969FE6}">
      <dgm:prSet/>
      <dgm:spPr/>
      <dgm:t>
        <a:bodyPr/>
        <a:lstStyle/>
        <a:p>
          <a:endParaRPr lang="en-US"/>
        </a:p>
      </dgm:t>
    </dgm:pt>
    <dgm:pt modelId="{3360736A-556B-4A34-8FED-1362B964EB99}" type="sibTrans" cxnId="{A0AEEB7F-8268-4DE6-BE20-1C27FE969FE6}">
      <dgm:prSet/>
      <dgm:spPr/>
      <dgm:t>
        <a:bodyPr/>
        <a:lstStyle/>
        <a:p>
          <a:endParaRPr lang="en-US"/>
        </a:p>
      </dgm:t>
    </dgm:pt>
    <dgm:pt modelId="{CB93301C-50CF-47BB-9497-A00C3B55156F}">
      <dgm:prSet/>
      <dgm:spPr/>
      <dgm:t>
        <a:bodyPr/>
        <a:lstStyle/>
        <a:p>
          <a:r>
            <a:rPr lang="en-US"/>
            <a:t>Architecture: Before vs After</a:t>
          </a:r>
        </a:p>
      </dgm:t>
    </dgm:pt>
    <dgm:pt modelId="{0AF009D1-1EEA-4D35-83EA-160EFD202392}" type="parTrans" cxnId="{DD8A4CC4-B02E-4FD9-BAF5-13EB959DC756}">
      <dgm:prSet/>
      <dgm:spPr/>
      <dgm:t>
        <a:bodyPr/>
        <a:lstStyle/>
        <a:p>
          <a:endParaRPr lang="en-US"/>
        </a:p>
      </dgm:t>
    </dgm:pt>
    <dgm:pt modelId="{8B09120C-6520-413E-9B47-B62771DB9BA1}" type="sibTrans" cxnId="{DD8A4CC4-B02E-4FD9-BAF5-13EB959DC756}">
      <dgm:prSet/>
      <dgm:spPr/>
      <dgm:t>
        <a:bodyPr/>
        <a:lstStyle/>
        <a:p>
          <a:endParaRPr lang="en-US"/>
        </a:p>
      </dgm:t>
    </dgm:pt>
    <dgm:pt modelId="{90D7F754-C667-41C8-8772-576D5A6D9087}">
      <dgm:prSet/>
      <dgm:spPr/>
      <dgm:t>
        <a:bodyPr/>
        <a:lstStyle/>
        <a:p>
          <a:r>
            <a:rPr lang="en-US"/>
            <a:t>Live Demo — Order Processing System</a:t>
          </a:r>
        </a:p>
      </dgm:t>
    </dgm:pt>
    <dgm:pt modelId="{F169AA47-7BB0-4E50-8B50-D57BE7EF7DE0}" type="parTrans" cxnId="{7EFE386B-5A08-4C10-8BCF-B70C7EF23BF5}">
      <dgm:prSet/>
      <dgm:spPr/>
      <dgm:t>
        <a:bodyPr/>
        <a:lstStyle/>
        <a:p>
          <a:endParaRPr lang="en-US"/>
        </a:p>
      </dgm:t>
    </dgm:pt>
    <dgm:pt modelId="{3C8E7133-8D99-472C-99B4-4844EB247835}" type="sibTrans" cxnId="{7EFE386B-5A08-4C10-8BCF-B70C7EF23BF5}">
      <dgm:prSet/>
      <dgm:spPr/>
      <dgm:t>
        <a:bodyPr/>
        <a:lstStyle/>
        <a:p>
          <a:endParaRPr lang="en-US"/>
        </a:p>
      </dgm:t>
    </dgm:pt>
    <dgm:pt modelId="{329DE118-EB9D-476B-8C30-B0ADD4E02C48}">
      <dgm:prSet/>
      <dgm:spPr/>
      <dgm:t>
        <a:bodyPr/>
        <a:lstStyle/>
        <a:p>
          <a:r>
            <a:rPr lang="en-US"/>
            <a:t>Key Takeaways &amp; Q&amp;A</a:t>
          </a:r>
        </a:p>
      </dgm:t>
    </dgm:pt>
    <dgm:pt modelId="{3E37A592-52F5-4C61-B40C-0DF51F466056}" type="parTrans" cxnId="{648CF888-110A-4F35-9F1E-79206B0EC8D1}">
      <dgm:prSet/>
      <dgm:spPr/>
      <dgm:t>
        <a:bodyPr/>
        <a:lstStyle/>
        <a:p>
          <a:endParaRPr lang="en-US"/>
        </a:p>
      </dgm:t>
    </dgm:pt>
    <dgm:pt modelId="{BAB2693A-5044-4B56-A44E-AC0BF706CEA8}" type="sibTrans" cxnId="{648CF888-110A-4F35-9F1E-79206B0EC8D1}">
      <dgm:prSet/>
      <dgm:spPr/>
      <dgm:t>
        <a:bodyPr/>
        <a:lstStyle/>
        <a:p>
          <a:endParaRPr lang="en-US"/>
        </a:p>
      </dgm:t>
    </dgm:pt>
    <dgm:pt modelId="{61D72465-9F88-4BE3-BDDC-197904ACAC8D}" type="pres">
      <dgm:prSet presAssocID="{401FA9D7-024D-471C-8A12-2AF396B0D200}" presName="root" presStyleCnt="0">
        <dgm:presLayoutVars>
          <dgm:dir/>
          <dgm:resizeHandles val="exact"/>
        </dgm:presLayoutVars>
      </dgm:prSet>
      <dgm:spPr/>
    </dgm:pt>
    <dgm:pt modelId="{C83A0E14-2A4C-4589-B7C9-0A000FD03D56}" type="pres">
      <dgm:prSet presAssocID="{C34C638D-B78A-42CA-ABF5-64AC01B5BA01}" presName="compNode" presStyleCnt="0"/>
      <dgm:spPr/>
    </dgm:pt>
    <dgm:pt modelId="{43A6F3E5-D9FD-4E5E-9C2B-7B1B6FE5FB20}" type="pres">
      <dgm:prSet presAssocID="{C34C638D-B78A-42CA-ABF5-64AC01B5BA01}" presName="bgRect" presStyleLbl="bgShp" presStyleIdx="0" presStyleCnt="6"/>
      <dgm:spPr/>
    </dgm:pt>
    <dgm:pt modelId="{A4A0E6FE-9891-4EA1-901B-BAC7ACB4328B}" type="pres">
      <dgm:prSet presAssocID="{C34C638D-B78A-42CA-ABF5-64AC01B5BA01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9CA0DA7-1069-473A-BBF8-2AF71B0B89DB}" type="pres">
      <dgm:prSet presAssocID="{C34C638D-B78A-42CA-ABF5-64AC01B5BA01}" presName="spaceRect" presStyleCnt="0"/>
      <dgm:spPr/>
    </dgm:pt>
    <dgm:pt modelId="{F8EE40E6-D53E-45BE-9849-9E5628E45DED}" type="pres">
      <dgm:prSet presAssocID="{C34C638D-B78A-42CA-ABF5-64AC01B5BA01}" presName="parTx" presStyleLbl="revTx" presStyleIdx="0" presStyleCnt="6">
        <dgm:presLayoutVars>
          <dgm:chMax val="0"/>
          <dgm:chPref val="0"/>
        </dgm:presLayoutVars>
      </dgm:prSet>
      <dgm:spPr/>
    </dgm:pt>
    <dgm:pt modelId="{3B255CC6-ADA6-4C26-BE61-F08D2AA4C1D2}" type="pres">
      <dgm:prSet presAssocID="{AF47D6FF-D02F-42FA-892D-EDCE72E57F87}" presName="sibTrans" presStyleCnt="0"/>
      <dgm:spPr/>
    </dgm:pt>
    <dgm:pt modelId="{F726EF63-6E31-4CBD-A076-51AFAADB98F8}" type="pres">
      <dgm:prSet presAssocID="{34DE9A13-5AD5-4F61-B1FF-8E6C42DA50B3}" presName="compNode" presStyleCnt="0"/>
      <dgm:spPr/>
    </dgm:pt>
    <dgm:pt modelId="{80FF4773-6E99-486A-A684-1853DD189F93}" type="pres">
      <dgm:prSet presAssocID="{34DE9A13-5AD5-4F61-B1FF-8E6C42DA50B3}" presName="bgRect" presStyleLbl="bgShp" presStyleIdx="1" presStyleCnt="6"/>
      <dgm:spPr/>
    </dgm:pt>
    <dgm:pt modelId="{67BD0D1C-C23D-4680-8FB8-4A751396F6BF}" type="pres">
      <dgm:prSet presAssocID="{34DE9A13-5AD5-4F61-B1FF-8E6C42DA50B3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FE271AB-8063-4F88-AB8B-8E78827DAE90}" type="pres">
      <dgm:prSet presAssocID="{34DE9A13-5AD5-4F61-B1FF-8E6C42DA50B3}" presName="spaceRect" presStyleCnt="0"/>
      <dgm:spPr/>
    </dgm:pt>
    <dgm:pt modelId="{ABDB43D2-B6FD-406F-AD74-58BCD615C859}" type="pres">
      <dgm:prSet presAssocID="{34DE9A13-5AD5-4F61-B1FF-8E6C42DA50B3}" presName="parTx" presStyleLbl="revTx" presStyleIdx="1" presStyleCnt="6">
        <dgm:presLayoutVars>
          <dgm:chMax val="0"/>
          <dgm:chPref val="0"/>
        </dgm:presLayoutVars>
      </dgm:prSet>
      <dgm:spPr/>
    </dgm:pt>
    <dgm:pt modelId="{2CA661F7-4B01-47EA-82DE-9AF115C323FF}" type="pres">
      <dgm:prSet presAssocID="{E63B5D80-368A-481C-BECE-EDA0C7C04C04}" presName="sibTrans" presStyleCnt="0"/>
      <dgm:spPr/>
    </dgm:pt>
    <dgm:pt modelId="{8760B3CC-6D26-4852-B585-0E8069FC8BD4}" type="pres">
      <dgm:prSet presAssocID="{028750BC-396D-4767-A007-2F492DD2DD94}" presName="compNode" presStyleCnt="0"/>
      <dgm:spPr/>
    </dgm:pt>
    <dgm:pt modelId="{AE08E007-C641-4207-B0FF-821E4403AC34}" type="pres">
      <dgm:prSet presAssocID="{028750BC-396D-4767-A007-2F492DD2DD94}" presName="bgRect" presStyleLbl="bgShp" presStyleIdx="2" presStyleCnt="6"/>
      <dgm:spPr/>
    </dgm:pt>
    <dgm:pt modelId="{9F3C2D4D-8ACC-4D50-AEAF-172AD0EE6937}" type="pres">
      <dgm:prSet presAssocID="{028750BC-396D-4767-A007-2F492DD2DD94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13EDC8E4-C71F-4877-992C-7286619B8CFA}" type="pres">
      <dgm:prSet presAssocID="{028750BC-396D-4767-A007-2F492DD2DD94}" presName="spaceRect" presStyleCnt="0"/>
      <dgm:spPr/>
    </dgm:pt>
    <dgm:pt modelId="{2800817A-62CA-49A9-B0D4-7930EF2CAC5A}" type="pres">
      <dgm:prSet presAssocID="{028750BC-396D-4767-A007-2F492DD2DD94}" presName="parTx" presStyleLbl="revTx" presStyleIdx="2" presStyleCnt="6">
        <dgm:presLayoutVars>
          <dgm:chMax val="0"/>
          <dgm:chPref val="0"/>
        </dgm:presLayoutVars>
      </dgm:prSet>
      <dgm:spPr/>
    </dgm:pt>
    <dgm:pt modelId="{C013761C-F750-4A4F-AB00-70970374E0A0}" type="pres">
      <dgm:prSet presAssocID="{3360736A-556B-4A34-8FED-1362B964EB99}" presName="sibTrans" presStyleCnt="0"/>
      <dgm:spPr/>
    </dgm:pt>
    <dgm:pt modelId="{B44E06FF-590F-4787-94D7-1FE0B81B6F47}" type="pres">
      <dgm:prSet presAssocID="{CB93301C-50CF-47BB-9497-A00C3B55156F}" presName="compNode" presStyleCnt="0"/>
      <dgm:spPr/>
    </dgm:pt>
    <dgm:pt modelId="{F82EAEC1-ED6D-460C-8A23-111E8B1C3DCD}" type="pres">
      <dgm:prSet presAssocID="{CB93301C-50CF-47BB-9497-A00C3B55156F}" presName="bgRect" presStyleLbl="bgShp" presStyleIdx="3" presStyleCnt="6"/>
      <dgm:spPr/>
    </dgm:pt>
    <dgm:pt modelId="{6396EC6C-194E-4292-BCEC-6646E753DD17}" type="pres">
      <dgm:prSet presAssocID="{CB93301C-50CF-47BB-9497-A00C3B55156F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01E3698-17C3-4F24-92C5-443126F01E19}" type="pres">
      <dgm:prSet presAssocID="{CB93301C-50CF-47BB-9497-A00C3B55156F}" presName="spaceRect" presStyleCnt="0"/>
      <dgm:spPr/>
    </dgm:pt>
    <dgm:pt modelId="{8C340DED-EC04-4807-83AA-035FB302D902}" type="pres">
      <dgm:prSet presAssocID="{CB93301C-50CF-47BB-9497-A00C3B55156F}" presName="parTx" presStyleLbl="revTx" presStyleIdx="3" presStyleCnt="6">
        <dgm:presLayoutVars>
          <dgm:chMax val="0"/>
          <dgm:chPref val="0"/>
        </dgm:presLayoutVars>
      </dgm:prSet>
      <dgm:spPr/>
    </dgm:pt>
    <dgm:pt modelId="{3A58627D-3B66-4A8F-80B2-7553118C2265}" type="pres">
      <dgm:prSet presAssocID="{8B09120C-6520-413E-9B47-B62771DB9BA1}" presName="sibTrans" presStyleCnt="0"/>
      <dgm:spPr/>
    </dgm:pt>
    <dgm:pt modelId="{46F9B315-C7E7-45C8-80D4-728AB8E49223}" type="pres">
      <dgm:prSet presAssocID="{90D7F754-C667-41C8-8772-576D5A6D9087}" presName="compNode" presStyleCnt="0"/>
      <dgm:spPr/>
    </dgm:pt>
    <dgm:pt modelId="{44183AF9-881C-4E5E-97E8-7819E436167D}" type="pres">
      <dgm:prSet presAssocID="{90D7F754-C667-41C8-8772-576D5A6D9087}" presName="bgRect" presStyleLbl="bgShp" presStyleIdx="4" presStyleCnt="6"/>
      <dgm:spPr/>
    </dgm:pt>
    <dgm:pt modelId="{9CAEE822-578F-48E8-B842-B46F452BE7EA}" type="pres">
      <dgm:prSet presAssocID="{90D7F754-C667-41C8-8772-576D5A6D908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50B257E-9426-4F7E-A632-B30E8BC75FC8}" type="pres">
      <dgm:prSet presAssocID="{90D7F754-C667-41C8-8772-576D5A6D9087}" presName="spaceRect" presStyleCnt="0"/>
      <dgm:spPr/>
    </dgm:pt>
    <dgm:pt modelId="{0589DE23-AC8B-4D1B-893D-F859EFF6F1DD}" type="pres">
      <dgm:prSet presAssocID="{90D7F754-C667-41C8-8772-576D5A6D9087}" presName="parTx" presStyleLbl="revTx" presStyleIdx="4" presStyleCnt="6">
        <dgm:presLayoutVars>
          <dgm:chMax val="0"/>
          <dgm:chPref val="0"/>
        </dgm:presLayoutVars>
      </dgm:prSet>
      <dgm:spPr/>
    </dgm:pt>
    <dgm:pt modelId="{E349FEAA-655A-47BD-8177-396CB9BD49E9}" type="pres">
      <dgm:prSet presAssocID="{3C8E7133-8D99-472C-99B4-4844EB247835}" presName="sibTrans" presStyleCnt="0"/>
      <dgm:spPr/>
    </dgm:pt>
    <dgm:pt modelId="{A3BE8183-9FA7-4F0C-BFAD-F8CEB29036E3}" type="pres">
      <dgm:prSet presAssocID="{329DE118-EB9D-476B-8C30-B0ADD4E02C48}" presName="compNode" presStyleCnt="0"/>
      <dgm:spPr/>
    </dgm:pt>
    <dgm:pt modelId="{D9B42F6A-4EFA-4C7A-9BA5-A8424D4CB06B}" type="pres">
      <dgm:prSet presAssocID="{329DE118-EB9D-476B-8C30-B0ADD4E02C48}" presName="bgRect" presStyleLbl="bgShp" presStyleIdx="5" presStyleCnt="6"/>
      <dgm:spPr/>
    </dgm:pt>
    <dgm:pt modelId="{FE40E03F-F61A-4503-9610-21486A00DFE8}" type="pres">
      <dgm:prSet presAssocID="{329DE118-EB9D-476B-8C30-B0ADD4E02C48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470BB01-29CA-4B9A-B21E-7C88F4526431}" type="pres">
      <dgm:prSet presAssocID="{329DE118-EB9D-476B-8C30-B0ADD4E02C48}" presName="spaceRect" presStyleCnt="0"/>
      <dgm:spPr/>
    </dgm:pt>
    <dgm:pt modelId="{3B428592-6D8D-4FF9-ACAD-7B8D5BBC65B4}" type="pres">
      <dgm:prSet presAssocID="{329DE118-EB9D-476B-8C30-B0ADD4E02C4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249751F-522D-493F-8CCA-866EC528C591}" type="presOf" srcId="{329DE118-EB9D-476B-8C30-B0ADD4E02C48}" destId="{3B428592-6D8D-4FF9-ACAD-7B8D5BBC65B4}" srcOrd="0" destOrd="0" presId="urn:microsoft.com/office/officeart/2018/2/layout/IconVerticalSolidList"/>
    <dgm:cxn modelId="{0890C947-E922-42A8-A526-EFD1FB9A6199}" type="presOf" srcId="{CB93301C-50CF-47BB-9497-A00C3B55156F}" destId="{8C340DED-EC04-4807-83AA-035FB302D902}" srcOrd="0" destOrd="0" presId="urn:microsoft.com/office/officeart/2018/2/layout/IconVerticalSolidList"/>
    <dgm:cxn modelId="{7EFE386B-5A08-4C10-8BCF-B70C7EF23BF5}" srcId="{401FA9D7-024D-471C-8A12-2AF396B0D200}" destId="{90D7F754-C667-41C8-8772-576D5A6D9087}" srcOrd="4" destOrd="0" parTransId="{F169AA47-7BB0-4E50-8B50-D57BE7EF7DE0}" sibTransId="{3C8E7133-8D99-472C-99B4-4844EB247835}"/>
    <dgm:cxn modelId="{3C4A4C4F-1604-4E3B-8DF0-89ABD0737F9F}" type="presOf" srcId="{C34C638D-B78A-42CA-ABF5-64AC01B5BA01}" destId="{F8EE40E6-D53E-45BE-9849-9E5628E45DED}" srcOrd="0" destOrd="0" presId="urn:microsoft.com/office/officeart/2018/2/layout/IconVerticalSolidList"/>
    <dgm:cxn modelId="{DD2A8976-52B7-48A8-93EB-95517F18243C}" srcId="{401FA9D7-024D-471C-8A12-2AF396B0D200}" destId="{34DE9A13-5AD5-4F61-B1FF-8E6C42DA50B3}" srcOrd="1" destOrd="0" parTransId="{61603699-9972-4624-9B16-96C4C653B951}" sibTransId="{E63B5D80-368A-481C-BECE-EDA0C7C04C04}"/>
    <dgm:cxn modelId="{B6D68A7C-32A8-40FD-AB70-F1FD21AA0FD6}" srcId="{401FA9D7-024D-471C-8A12-2AF396B0D200}" destId="{C34C638D-B78A-42CA-ABF5-64AC01B5BA01}" srcOrd="0" destOrd="0" parTransId="{ABBAE978-A4F0-474D-B1CB-58A1824F36A7}" sibTransId="{AF47D6FF-D02F-42FA-892D-EDCE72E57F87}"/>
    <dgm:cxn modelId="{A0AEEB7F-8268-4DE6-BE20-1C27FE969FE6}" srcId="{401FA9D7-024D-471C-8A12-2AF396B0D200}" destId="{028750BC-396D-4767-A007-2F492DD2DD94}" srcOrd="2" destOrd="0" parTransId="{CC2A702D-6D0F-498F-9DA7-CE323D85BA77}" sibTransId="{3360736A-556B-4A34-8FED-1362B964EB99}"/>
    <dgm:cxn modelId="{648CF888-110A-4F35-9F1E-79206B0EC8D1}" srcId="{401FA9D7-024D-471C-8A12-2AF396B0D200}" destId="{329DE118-EB9D-476B-8C30-B0ADD4E02C48}" srcOrd="5" destOrd="0" parTransId="{3E37A592-52F5-4C61-B40C-0DF51F466056}" sibTransId="{BAB2693A-5044-4B56-A44E-AC0BF706CEA8}"/>
    <dgm:cxn modelId="{F11D8A99-6056-4388-A62D-270A4C61E79B}" type="presOf" srcId="{90D7F754-C667-41C8-8772-576D5A6D9087}" destId="{0589DE23-AC8B-4D1B-893D-F859EFF6F1DD}" srcOrd="0" destOrd="0" presId="urn:microsoft.com/office/officeart/2018/2/layout/IconVerticalSolidList"/>
    <dgm:cxn modelId="{DD8A4CC4-B02E-4FD9-BAF5-13EB959DC756}" srcId="{401FA9D7-024D-471C-8A12-2AF396B0D200}" destId="{CB93301C-50CF-47BB-9497-A00C3B55156F}" srcOrd="3" destOrd="0" parTransId="{0AF009D1-1EEA-4D35-83EA-160EFD202392}" sibTransId="{8B09120C-6520-413E-9B47-B62771DB9BA1}"/>
    <dgm:cxn modelId="{CB11A6C4-AB66-47D9-AC63-D2630893E68E}" type="presOf" srcId="{34DE9A13-5AD5-4F61-B1FF-8E6C42DA50B3}" destId="{ABDB43D2-B6FD-406F-AD74-58BCD615C859}" srcOrd="0" destOrd="0" presId="urn:microsoft.com/office/officeart/2018/2/layout/IconVerticalSolidList"/>
    <dgm:cxn modelId="{425378E6-69AC-493A-90A5-E6E7C176167C}" type="presOf" srcId="{401FA9D7-024D-471C-8A12-2AF396B0D200}" destId="{61D72465-9F88-4BE3-BDDC-197904ACAC8D}" srcOrd="0" destOrd="0" presId="urn:microsoft.com/office/officeart/2018/2/layout/IconVerticalSolidList"/>
    <dgm:cxn modelId="{14BC4DEF-2A3F-4BD0-B592-777F2F66D6A9}" type="presOf" srcId="{028750BC-396D-4767-A007-2F492DD2DD94}" destId="{2800817A-62CA-49A9-B0D4-7930EF2CAC5A}" srcOrd="0" destOrd="0" presId="urn:microsoft.com/office/officeart/2018/2/layout/IconVerticalSolidList"/>
    <dgm:cxn modelId="{67F4DC74-CE64-405D-A24E-39EFE46D2765}" type="presParOf" srcId="{61D72465-9F88-4BE3-BDDC-197904ACAC8D}" destId="{C83A0E14-2A4C-4589-B7C9-0A000FD03D56}" srcOrd="0" destOrd="0" presId="urn:microsoft.com/office/officeart/2018/2/layout/IconVerticalSolidList"/>
    <dgm:cxn modelId="{E583144F-497F-4BC9-91C0-15CBFCA72812}" type="presParOf" srcId="{C83A0E14-2A4C-4589-B7C9-0A000FD03D56}" destId="{43A6F3E5-D9FD-4E5E-9C2B-7B1B6FE5FB20}" srcOrd="0" destOrd="0" presId="urn:microsoft.com/office/officeart/2018/2/layout/IconVerticalSolidList"/>
    <dgm:cxn modelId="{4C8B5DAC-5B1F-43DC-8995-0FF6879F606C}" type="presParOf" srcId="{C83A0E14-2A4C-4589-B7C9-0A000FD03D56}" destId="{A4A0E6FE-9891-4EA1-901B-BAC7ACB4328B}" srcOrd="1" destOrd="0" presId="urn:microsoft.com/office/officeart/2018/2/layout/IconVerticalSolidList"/>
    <dgm:cxn modelId="{E60B35B2-0D57-4F43-8566-9355264977C0}" type="presParOf" srcId="{C83A0E14-2A4C-4589-B7C9-0A000FD03D56}" destId="{C9CA0DA7-1069-473A-BBF8-2AF71B0B89DB}" srcOrd="2" destOrd="0" presId="urn:microsoft.com/office/officeart/2018/2/layout/IconVerticalSolidList"/>
    <dgm:cxn modelId="{B723C532-BD16-40F5-9A46-85D969DBAAF7}" type="presParOf" srcId="{C83A0E14-2A4C-4589-B7C9-0A000FD03D56}" destId="{F8EE40E6-D53E-45BE-9849-9E5628E45DED}" srcOrd="3" destOrd="0" presId="urn:microsoft.com/office/officeart/2018/2/layout/IconVerticalSolidList"/>
    <dgm:cxn modelId="{9B701476-C053-4734-ABC3-9552269B0DEA}" type="presParOf" srcId="{61D72465-9F88-4BE3-BDDC-197904ACAC8D}" destId="{3B255CC6-ADA6-4C26-BE61-F08D2AA4C1D2}" srcOrd="1" destOrd="0" presId="urn:microsoft.com/office/officeart/2018/2/layout/IconVerticalSolidList"/>
    <dgm:cxn modelId="{BA55C541-DDEE-49A3-9535-D2E7729370EB}" type="presParOf" srcId="{61D72465-9F88-4BE3-BDDC-197904ACAC8D}" destId="{F726EF63-6E31-4CBD-A076-51AFAADB98F8}" srcOrd="2" destOrd="0" presId="urn:microsoft.com/office/officeart/2018/2/layout/IconVerticalSolidList"/>
    <dgm:cxn modelId="{DB3CE059-01EC-41B5-8273-ABDB475DAFF4}" type="presParOf" srcId="{F726EF63-6E31-4CBD-A076-51AFAADB98F8}" destId="{80FF4773-6E99-486A-A684-1853DD189F93}" srcOrd="0" destOrd="0" presId="urn:microsoft.com/office/officeart/2018/2/layout/IconVerticalSolidList"/>
    <dgm:cxn modelId="{29E0D600-912C-4A5B-BABE-9A7F143F474F}" type="presParOf" srcId="{F726EF63-6E31-4CBD-A076-51AFAADB98F8}" destId="{67BD0D1C-C23D-4680-8FB8-4A751396F6BF}" srcOrd="1" destOrd="0" presId="urn:microsoft.com/office/officeart/2018/2/layout/IconVerticalSolidList"/>
    <dgm:cxn modelId="{E39FB76E-7E25-4538-8BB5-0C444082C72C}" type="presParOf" srcId="{F726EF63-6E31-4CBD-A076-51AFAADB98F8}" destId="{EFE271AB-8063-4F88-AB8B-8E78827DAE90}" srcOrd="2" destOrd="0" presId="urn:microsoft.com/office/officeart/2018/2/layout/IconVerticalSolidList"/>
    <dgm:cxn modelId="{A969F182-377A-447D-AB91-9C81B608970D}" type="presParOf" srcId="{F726EF63-6E31-4CBD-A076-51AFAADB98F8}" destId="{ABDB43D2-B6FD-406F-AD74-58BCD615C859}" srcOrd="3" destOrd="0" presId="urn:microsoft.com/office/officeart/2018/2/layout/IconVerticalSolidList"/>
    <dgm:cxn modelId="{F1F2A68C-EAC4-4792-8DE5-F5BFF3CF4BED}" type="presParOf" srcId="{61D72465-9F88-4BE3-BDDC-197904ACAC8D}" destId="{2CA661F7-4B01-47EA-82DE-9AF115C323FF}" srcOrd="3" destOrd="0" presId="urn:microsoft.com/office/officeart/2018/2/layout/IconVerticalSolidList"/>
    <dgm:cxn modelId="{60FACFFC-7BFB-4945-8FF9-D1307F7C67B5}" type="presParOf" srcId="{61D72465-9F88-4BE3-BDDC-197904ACAC8D}" destId="{8760B3CC-6D26-4852-B585-0E8069FC8BD4}" srcOrd="4" destOrd="0" presId="urn:microsoft.com/office/officeart/2018/2/layout/IconVerticalSolidList"/>
    <dgm:cxn modelId="{8D605689-31C6-4E33-AD6D-A2046640219D}" type="presParOf" srcId="{8760B3CC-6D26-4852-B585-0E8069FC8BD4}" destId="{AE08E007-C641-4207-B0FF-821E4403AC34}" srcOrd="0" destOrd="0" presId="urn:microsoft.com/office/officeart/2018/2/layout/IconVerticalSolidList"/>
    <dgm:cxn modelId="{453776A4-F5F7-4765-9174-3303D99D71F5}" type="presParOf" srcId="{8760B3CC-6D26-4852-B585-0E8069FC8BD4}" destId="{9F3C2D4D-8ACC-4D50-AEAF-172AD0EE6937}" srcOrd="1" destOrd="0" presId="urn:microsoft.com/office/officeart/2018/2/layout/IconVerticalSolidList"/>
    <dgm:cxn modelId="{97996402-0EC6-4387-9BBF-93E5A7014C84}" type="presParOf" srcId="{8760B3CC-6D26-4852-B585-0E8069FC8BD4}" destId="{13EDC8E4-C71F-4877-992C-7286619B8CFA}" srcOrd="2" destOrd="0" presId="urn:microsoft.com/office/officeart/2018/2/layout/IconVerticalSolidList"/>
    <dgm:cxn modelId="{D7698B3A-19A2-4820-8C55-7AC1F026E16F}" type="presParOf" srcId="{8760B3CC-6D26-4852-B585-0E8069FC8BD4}" destId="{2800817A-62CA-49A9-B0D4-7930EF2CAC5A}" srcOrd="3" destOrd="0" presId="urn:microsoft.com/office/officeart/2018/2/layout/IconVerticalSolidList"/>
    <dgm:cxn modelId="{FE3C9E55-D307-4E5A-B164-AC1C219979EF}" type="presParOf" srcId="{61D72465-9F88-4BE3-BDDC-197904ACAC8D}" destId="{C013761C-F750-4A4F-AB00-70970374E0A0}" srcOrd="5" destOrd="0" presId="urn:microsoft.com/office/officeart/2018/2/layout/IconVerticalSolidList"/>
    <dgm:cxn modelId="{165AEDA8-8D8A-4940-9912-9C906C54E15E}" type="presParOf" srcId="{61D72465-9F88-4BE3-BDDC-197904ACAC8D}" destId="{B44E06FF-590F-4787-94D7-1FE0B81B6F47}" srcOrd="6" destOrd="0" presId="urn:microsoft.com/office/officeart/2018/2/layout/IconVerticalSolidList"/>
    <dgm:cxn modelId="{1CF9A8CB-E33D-4582-8D23-264575330211}" type="presParOf" srcId="{B44E06FF-590F-4787-94D7-1FE0B81B6F47}" destId="{F82EAEC1-ED6D-460C-8A23-111E8B1C3DCD}" srcOrd="0" destOrd="0" presId="urn:microsoft.com/office/officeart/2018/2/layout/IconVerticalSolidList"/>
    <dgm:cxn modelId="{047F0776-F6DB-4D49-AAA8-28397862525F}" type="presParOf" srcId="{B44E06FF-590F-4787-94D7-1FE0B81B6F47}" destId="{6396EC6C-194E-4292-BCEC-6646E753DD17}" srcOrd="1" destOrd="0" presId="urn:microsoft.com/office/officeart/2018/2/layout/IconVerticalSolidList"/>
    <dgm:cxn modelId="{E99F9B47-95B9-4CE2-BA16-079B61608529}" type="presParOf" srcId="{B44E06FF-590F-4787-94D7-1FE0B81B6F47}" destId="{301E3698-17C3-4F24-92C5-443126F01E19}" srcOrd="2" destOrd="0" presId="urn:microsoft.com/office/officeart/2018/2/layout/IconVerticalSolidList"/>
    <dgm:cxn modelId="{7B717F01-9455-489B-B30F-CCE5CA2CB9BA}" type="presParOf" srcId="{B44E06FF-590F-4787-94D7-1FE0B81B6F47}" destId="{8C340DED-EC04-4807-83AA-035FB302D902}" srcOrd="3" destOrd="0" presId="urn:microsoft.com/office/officeart/2018/2/layout/IconVerticalSolidList"/>
    <dgm:cxn modelId="{F47D967D-C085-4E38-9837-C3A05647C0F9}" type="presParOf" srcId="{61D72465-9F88-4BE3-BDDC-197904ACAC8D}" destId="{3A58627D-3B66-4A8F-80B2-7553118C2265}" srcOrd="7" destOrd="0" presId="urn:microsoft.com/office/officeart/2018/2/layout/IconVerticalSolidList"/>
    <dgm:cxn modelId="{C82031C8-A86B-46D0-A071-48507F032EDD}" type="presParOf" srcId="{61D72465-9F88-4BE3-BDDC-197904ACAC8D}" destId="{46F9B315-C7E7-45C8-80D4-728AB8E49223}" srcOrd="8" destOrd="0" presId="urn:microsoft.com/office/officeart/2018/2/layout/IconVerticalSolidList"/>
    <dgm:cxn modelId="{F9E7FF18-2538-435F-9C72-571C943D9DAA}" type="presParOf" srcId="{46F9B315-C7E7-45C8-80D4-728AB8E49223}" destId="{44183AF9-881C-4E5E-97E8-7819E436167D}" srcOrd="0" destOrd="0" presId="urn:microsoft.com/office/officeart/2018/2/layout/IconVerticalSolidList"/>
    <dgm:cxn modelId="{8C47EEF1-1693-46BE-B5E1-F616CB7EF312}" type="presParOf" srcId="{46F9B315-C7E7-45C8-80D4-728AB8E49223}" destId="{9CAEE822-578F-48E8-B842-B46F452BE7EA}" srcOrd="1" destOrd="0" presId="urn:microsoft.com/office/officeart/2018/2/layout/IconVerticalSolidList"/>
    <dgm:cxn modelId="{F03344F9-6F79-4254-8824-588EC47DB449}" type="presParOf" srcId="{46F9B315-C7E7-45C8-80D4-728AB8E49223}" destId="{450B257E-9426-4F7E-A632-B30E8BC75FC8}" srcOrd="2" destOrd="0" presId="urn:microsoft.com/office/officeart/2018/2/layout/IconVerticalSolidList"/>
    <dgm:cxn modelId="{73973FA7-9BCA-4700-988C-DF81AAB94F93}" type="presParOf" srcId="{46F9B315-C7E7-45C8-80D4-728AB8E49223}" destId="{0589DE23-AC8B-4D1B-893D-F859EFF6F1DD}" srcOrd="3" destOrd="0" presId="urn:microsoft.com/office/officeart/2018/2/layout/IconVerticalSolidList"/>
    <dgm:cxn modelId="{E63EE11D-BBA6-4B18-ADA5-438CF00166F1}" type="presParOf" srcId="{61D72465-9F88-4BE3-BDDC-197904ACAC8D}" destId="{E349FEAA-655A-47BD-8177-396CB9BD49E9}" srcOrd="9" destOrd="0" presId="urn:microsoft.com/office/officeart/2018/2/layout/IconVerticalSolidList"/>
    <dgm:cxn modelId="{06939FA0-9244-473A-85CC-B48F6104BD4C}" type="presParOf" srcId="{61D72465-9F88-4BE3-BDDC-197904ACAC8D}" destId="{A3BE8183-9FA7-4F0C-BFAD-F8CEB29036E3}" srcOrd="10" destOrd="0" presId="urn:microsoft.com/office/officeart/2018/2/layout/IconVerticalSolidList"/>
    <dgm:cxn modelId="{F3408098-62EB-4F04-B6BA-15193FE5D7D1}" type="presParOf" srcId="{A3BE8183-9FA7-4F0C-BFAD-F8CEB29036E3}" destId="{D9B42F6A-4EFA-4C7A-9BA5-A8424D4CB06B}" srcOrd="0" destOrd="0" presId="urn:microsoft.com/office/officeart/2018/2/layout/IconVerticalSolidList"/>
    <dgm:cxn modelId="{4A000343-5456-443B-B98F-50845055B630}" type="presParOf" srcId="{A3BE8183-9FA7-4F0C-BFAD-F8CEB29036E3}" destId="{FE40E03F-F61A-4503-9610-21486A00DFE8}" srcOrd="1" destOrd="0" presId="urn:microsoft.com/office/officeart/2018/2/layout/IconVerticalSolidList"/>
    <dgm:cxn modelId="{2448CE10-9FA6-4302-9259-E2004740E0F1}" type="presParOf" srcId="{A3BE8183-9FA7-4F0C-BFAD-F8CEB29036E3}" destId="{5470BB01-29CA-4B9A-B21E-7C88F4526431}" srcOrd="2" destOrd="0" presId="urn:microsoft.com/office/officeart/2018/2/layout/IconVerticalSolidList"/>
    <dgm:cxn modelId="{DF8B75BE-E1C6-4DDA-BC69-D85FEE8000D7}" type="presParOf" srcId="{A3BE8183-9FA7-4F0C-BFAD-F8CEB29036E3}" destId="{3B428592-6D8D-4FF9-ACAD-7B8D5BBC65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A6F3E5-D9FD-4E5E-9C2B-7B1B6FE5FB20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0E6FE-9891-4EA1-901B-BAC7ACB4328B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E40E6-D53E-45BE-9849-9E5628E45DE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Problem with Synchronous Systems</a:t>
          </a:r>
        </a:p>
      </dsp:txBody>
      <dsp:txXfrm>
        <a:off x="889864" y="1808"/>
        <a:ext cx="5355400" cy="770445"/>
      </dsp:txXfrm>
    </dsp:sp>
    <dsp:sp modelId="{80FF4773-6E99-486A-A684-1853DD189F93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BD0D1C-C23D-4680-8FB8-4A751396F6BF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B43D2-B6FD-406F-AD74-58BCD615C859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Messaging Fundamentals</a:t>
          </a:r>
        </a:p>
      </dsp:txBody>
      <dsp:txXfrm>
        <a:off x="889864" y="964865"/>
        <a:ext cx="5355400" cy="770445"/>
      </dsp:txXfrm>
    </dsp:sp>
    <dsp:sp modelId="{AE08E007-C641-4207-B0FF-821E4403AC34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C2D4D-8ACC-4D50-AEAF-172AD0EE6937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0817A-62CA-49A9-B0D4-7930EF2CAC5A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Delivery Guarantees &amp; Use Cases</a:t>
          </a:r>
        </a:p>
      </dsp:txBody>
      <dsp:txXfrm>
        <a:off x="889864" y="1927922"/>
        <a:ext cx="5355400" cy="770445"/>
      </dsp:txXfrm>
    </dsp:sp>
    <dsp:sp modelId="{F82EAEC1-ED6D-460C-8A23-111E8B1C3DCD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6EC6C-194E-4292-BCEC-6646E753DD1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40DED-EC04-4807-83AA-035FB302D902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Architecture: Before vs After</a:t>
          </a:r>
        </a:p>
      </dsp:txBody>
      <dsp:txXfrm>
        <a:off x="889864" y="2890979"/>
        <a:ext cx="5355400" cy="770445"/>
      </dsp:txXfrm>
    </dsp:sp>
    <dsp:sp modelId="{44183AF9-881C-4E5E-97E8-7819E436167D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AEE822-578F-48E8-B842-B46F452BE7EA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9DE23-AC8B-4D1B-893D-F859EFF6F1DD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Live Demo — Order Processing System</a:t>
          </a:r>
        </a:p>
      </dsp:txBody>
      <dsp:txXfrm>
        <a:off x="889864" y="3854036"/>
        <a:ext cx="5355400" cy="770445"/>
      </dsp:txXfrm>
    </dsp:sp>
    <dsp:sp modelId="{D9B42F6A-4EFA-4C7A-9BA5-A8424D4CB06B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40E03F-F61A-4503-9610-21486A00DFE8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28592-6D8D-4FF9-ACAD-7B8D5BBC65B4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Takeaways &amp; Q&amp;A</a:t>
          </a:r>
        </a:p>
      </dsp:txBody>
      <dsp:txXfrm>
        <a:off x="889864" y="4817093"/>
        <a:ext cx="5355400" cy="770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088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5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79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85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80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87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6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1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04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45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Messaging &amp; Message Queue Fundamentals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Nguyễn </a:t>
            </a:r>
            <a:r>
              <a:rPr lang="en-US" dirty="0" err="1">
                <a:ea typeface="+mn-lt"/>
                <a:cs typeface="+mn-lt"/>
              </a:rPr>
              <a:t>Thế</a:t>
            </a:r>
            <a:r>
              <a:rPr lang="en-US" dirty="0">
                <a:ea typeface="+mn-lt"/>
                <a:cs typeface="+mn-lt"/>
              </a:rPr>
              <a:t> Linh – LinhNT310 – NSM – F1 - FPT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49604-28C3-95A8-0BA5-3CD4009A4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>
                <a:ea typeface="+mj-lt"/>
                <a:cs typeface="+mj-lt"/>
              </a:rPr>
              <a:t>Agenda</a:t>
            </a:r>
            <a:endParaRPr lang="en-US" sz="7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62CF96-5E42-3B8F-87C8-DD4966887E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893200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7F43-F3FF-8D76-C1F4-E5F6A4F7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World We Know: Synchronous Processing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5F726-6B54-FA8C-6B2E-C7848FC7D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4830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User waits for EVERYTHING to finish.</a:t>
            </a:r>
            <a:endParaRPr lang="en-US" dirty="0"/>
          </a:p>
        </p:txBody>
      </p:sp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FBF421F-215F-4EA6-A802-4C3CE60A9B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12693" y="2558141"/>
            <a:ext cx="6799223" cy="183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1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6CEA3-FC99-3963-1B91-BF953E863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What's Wrong with This?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31281-E134-8166-F2BA-9FD581BDD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Slow response — user waits 3.7 seconds for a "simple" order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Tight coupling — API knows about Email, Inventory, Warehouse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Fragile — if Email service is down → entire order fails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Hard to scale — adding a new step = changing the API code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retry — if something fails midway, what happens?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Question: What happens to your user's experience when the email server is down for 5 minutes?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2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0598-EECB-02F9-430C-F2F62F187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Solution: Think Asynchronously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A36B4-BCE2-F96E-4CBA-6B006EAB9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1137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What if the API only did ONE thing?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Fast response </a:t>
            </a:r>
            <a:endParaRPr lang="en-US" dirty="0">
              <a:ea typeface="+mn-lt"/>
              <a:cs typeface="Helvetica"/>
            </a:endParaRPr>
          </a:p>
          <a:p>
            <a:r>
              <a:rPr lang="en-US">
                <a:ea typeface="+mn-lt"/>
                <a:cs typeface="+mn-lt"/>
              </a:rPr>
              <a:t>Services work independently </a:t>
            </a:r>
            <a:endParaRPr lang="en-US">
              <a:ea typeface="+mn-lt"/>
              <a:cs typeface="Helvetica"/>
            </a:endParaRPr>
          </a:p>
          <a:p>
            <a:r>
              <a:rPr lang="en-US">
                <a:ea typeface="+mn-lt"/>
                <a:cs typeface="+mn-lt"/>
              </a:rPr>
              <a:t>Failures are isolated</a:t>
            </a:r>
            <a:endParaRPr lang="en-US">
              <a:solidFill>
                <a:srgbClr val="000000"/>
              </a:solidFill>
              <a:latin typeface="Aptos" panose="020B0004020202020204"/>
              <a:cs typeface="Helvetica"/>
            </a:endParaRPr>
          </a:p>
          <a:p>
            <a:endParaRPr lang="en-US"/>
          </a:p>
          <a:p>
            <a:endParaRPr lang="en-US" dirty="0">
              <a:solidFill>
                <a:srgbClr val="000000"/>
              </a:solidFill>
              <a:latin typeface="Aptos" panose="020B0004020202020204"/>
              <a:cs typeface="Helvetica"/>
            </a:endParaRP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FCBB41A-0B4F-2FB9-F907-5B0D167516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45085" y="3197942"/>
            <a:ext cx="5849976" cy="161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1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D09E-11A1-7226-CA6E-62502CEC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What is Messaging?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2B53E-E55E-37A2-318F-2E42F26CB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 way for applications to communicate by sending data through an intermediary (broker) instead of directly to each other.</a:t>
            </a:r>
          </a:p>
          <a:p>
            <a:r>
              <a:rPr lang="en-US" dirty="0">
                <a:ea typeface="+mn-lt"/>
                <a:cs typeface="+mn-lt"/>
              </a:rPr>
              <a:t>Key Insight: The sender doesn't know (or care) who receives the message.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2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C958-FB2A-DF51-236E-3D94BDA5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Core Concepts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9550FE-A5C2-A013-084D-EEECF9360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759457"/>
              </p:ext>
            </p:extLst>
          </p:nvPr>
        </p:nvGraphicFramePr>
        <p:xfrm>
          <a:off x="612775" y="1716088"/>
          <a:ext cx="10653711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237">
                  <a:extLst>
                    <a:ext uri="{9D8B030D-6E8A-4147-A177-3AD203B41FA5}">
                      <a16:colId xmlns:a16="http://schemas.microsoft.com/office/drawing/2014/main" val="1500518814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289267444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2601915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Concept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What it is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Analogy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072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Producer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Sends messages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You dropping a letter at the post office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036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Consumer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Receives &amp; processes messages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The recipient opening the letter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226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Queue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Holds messages until consumed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The mailbox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629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Broker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Routes messages to the right queue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The postal system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861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Exchange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Routing logic (RabbitMQ specific)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The sorting facility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56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93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C9C9-B3A5-4F91-DE43-8C20AD660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Message Flow — How It Works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D05A9-9FA5-8A82-22BB-6B0C9BBEB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79552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Exchange receives the message → routes via routing key → delivers to Queue → Consumers compete to process</a:t>
            </a:r>
            <a:endParaRPr lang="en-US"/>
          </a:p>
        </p:txBody>
      </p:sp>
      <p:pic>
        <p:nvPicPr>
          <p:cNvPr id="5" name="Content Placeholder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7B0BBE42-818F-A1EF-1A79-752A5072F6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46471" y="2434604"/>
            <a:ext cx="5606338" cy="29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976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2A05-254C-C7A6-BDFD-DBED64D62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Exchange Types (RabbitMQ)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090700D-3306-ACF1-3B90-692B7F5344B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0525718"/>
              </p:ext>
            </p:extLst>
          </p:nvPr>
        </p:nvGraphicFramePr>
        <p:xfrm>
          <a:off x="838200" y="1825625"/>
          <a:ext cx="7635558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186">
                  <a:extLst>
                    <a:ext uri="{9D8B030D-6E8A-4147-A177-3AD203B41FA5}">
                      <a16:colId xmlns:a16="http://schemas.microsoft.com/office/drawing/2014/main" val="284463721"/>
                    </a:ext>
                  </a:extLst>
                </a:gridCol>
                <a:gridCol w="2545186">
                  <a:extLst>
                    <a:ext uri="{9D8B030D-6E8A-4147-A177-3AD203B41FA5}">
                      <a16:colId xmlns:a16="http://schemas.microsoft.com/office/drawing/2014/main" val="3984614960"/>
                    </a:ext>
                  </a:extLst>
                </a:gridCol>
                <a:gridCol w="2545186">
                  <a:extLst>
                    <a:ext uri="{9D8B030D-6E8A-4147-A177-3AD203B41FA5}">
                      <a16:colId xmlns:a16="http://schemas.microsoft.com/office/drawing/2014/main" val="678674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Type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Behavior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When to use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203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Direct   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Routes by exact routing key match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Point-to-point, specific routing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718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Fanout 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Broadcasts to ALL bound queues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Notifications to all services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774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Topic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Pattern matching on routing key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Flexible routing (e.g. order.*)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83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Headers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Routes by message headers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Complex routing rules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041796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A6169-983B-6A11-1A1D-B2FC553F9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8328" y="1714824"/>
            <a:ext cx="2875472" cy="44621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Our demo uses Direct Exchange — simplest and most common.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6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F566A-E8C5-DDFE-7EB0-A8A9E08F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Delivery Guarantees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E49C7-6B94-9427-B460-BFAE22973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At-Most-Once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Message delivered 0 or 1 time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Fast, but messages can be lost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Use case: metrics, logging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At-Least-Once (Our Demo)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Message delivered 1 or more times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Reliable, but may cause duplicates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Use case: orders, payments, emails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Exactly-Once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Message delivered exactly 1 time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Very hard to achieve (requires idempotency)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Use case: financial transactions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15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D99A-165F-CB4C-233D-30FF138C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When to Use Message Queues?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54E49-B9A6-7011-6A8D-113184F9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✅ Great for: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Email / SMS notifications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Inventory updates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Report generation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Data sync between services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Any task the user doesn't need to wait for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❌ Don't use for: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User login / authentication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Real-time queries (GET product details)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Anything that needs an immediate response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55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87CB-544F-1D61-3B69-45D8BD36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Architecture: Before vs After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549C-2D9D-8CE4-141E-A228AD88E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6344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❌ Before (Synchronous)</a:t>
            </a:r>
          </a:p>
          <a:p>
            <a:r>
              <a:rPr lang="en-US" dirty="0">
                <a:ea typeface="+mn-lt"/>
                <a:cs typeface="+mn-lt"/>
              </a:rPr>
              <a:t>Coupled. Every new service = code change in </a:t>
            </a:r>
            <a:r>
              <a:rPr lang="en-US" dirty="0" err="1">
                <a:ea typeface="+mn-lt"/>
                <a:cs typeface="+mn-lt"/>
              </a:rPr>
              <a:t>OrderAPI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D08C679-23D6-8E8E-D313-29AAAF8CB5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68766" y="1929888"/>
            <a:ext cx="5495553" cy="22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6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A925-5305-39BC-0F78-B86670D0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Architecture: Before vs After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661B-A7C9-9E79-37DE-AD5C1660A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5168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✅ After (Event-Driven)</a:t>
            </a:r>
          </a:p>
          <a:p>
            <a:r>
              <a:rPr lang="en-US" dirty="0">
                <a:ea typeface="+mn-lt"/>
                <a:cs typeface="+mn-lt"/>
              </a:rPr>
              <a:t>Decoupled. </a:t>
            </a:r>
            <a:r>
              <a:rPr lang="en-US" dirty="0" err="1">
                <a:ea typeface="+mn-lt"/>
                <a:cs typeface="+mn-lt"/>
              </a:rPr>
              <a:t>OrderAPI</a:t>
            </a:r>
            <a:r>
              <a:rPr lang="en-US" dirty="0">
                <a:ea typeface="+mn-lt"/>
                <a:cs typeface="+mn-lt"/>
              </a:rPr>
              <a:t> doesn't know who listens.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FA83E2-9790-000C-1463-465666EBCD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82932" y="3170396"/>
            <a:ext cx="6129655" cy="116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73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DC8E-8554-54DF-5EAD-FA598DC4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Our Demo System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2FD6-CCD0-B2F2-A3FA-66F086707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22628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Order Processing with RabbitMQ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60C54D-81D2-49B3-DF84-5064E77CE0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99125409"/>
              </p:ext>
            </p:extLst>
          </p:nvPr>
        </p:nvGraphicFramePr>
        <p:xfrm>
          <a:off x="4241320" y="1825924"/>
          <a:ext cx="7109998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4999">
                  <a:extLst>
                    <a:ext uri="{9D8B030D-6E8A-4147-A177-3AD203B41FA5}">
                      <a16:colId xmlns:a16="http://schemas.microsoft.com/office/drawing/2014/main" val="2964207966"/>
                    </a:ext>
                  </a:extLst>
                </a:gridCol>
                <a:gridCol w="3554999">
                  <a:extLst>
                    <a:ext uri="{9D8B030D-6E8A-4147-A177-3AD203B41FA5}">
                      <a16:colId xmlns:a16="http://schemas.microsoft.com/office/drawing/2014/main" val="1533589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Technology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588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Runtime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Java 21 + Spring Boot 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744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Message Broker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RabbitMQ (Docker)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5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API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POST /orders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2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Exchange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order.exchange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 (Direct)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2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Queue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order.queue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34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Routing Key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order.created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44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Consumers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EmailConsumer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, </a:t>
                      </a:r>
                      <a:r>
                        <a:rPr lang="en-US" sz="1800" b="0" i="0" u="none" strike="noStrike" noProof="0" dirty="0" err="1">
                          <a:latin typeface="Aptos"/>
                        </a:rPr>
                        <a:t>InventoryConsumer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522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589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2221-A999-E6AC-136A-DA8F6341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What We'll See in the Demo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4A470-9202-7D4D-4256-71363ECB5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Fast API response — order accepted in milliseconds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Async email — processed in background (2-3 sec delay)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Inventory update — processed independently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Failure simulation — email fails randomly (30%)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Automatic retry — Spring AMQP retries up to 3 times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RabbitMQ Dashboard — see queues and messages live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67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5171-4D4B-7F52-B59C-A8EC0865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Live Demo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25814-63CB-27F6-2BBD-E9EB22E52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Let's see it in action!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19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7B6E-E599-8127-2E06-038432F0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Takeaways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289F3-E326-6BB5-F98B-D60915D71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Decouple your services — producers and consumers don't know each other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Respond fast, process later — don't make users wait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Design for failure — retries, dead-letter queues, monitoring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Scale independently — add more consumers, not bigger servers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Extend easily — new feature = new consumer, zero changes to producer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10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CCC5-3170-B8CC-143D-4DB44611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C7C9-ED81-6D57-9663-B4F58E3D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Questions?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LinhNT310@fpt.com </a:t>
            </a:r>
          </a:p>
        </p:txBody>
      </p:sp>
    </p:spTree>
    <p:extLst>
      <p:ext uri="{BB962C8B-B14F-4D97-AF65-F5344CB8AC3E}">
        <p14:creationId xmlns:p14="http://schemas.microsoft.com/office/powerpoint/2010/main" val="2103928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0B97-282B-CE88-71B5-820CB5FD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1367390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VanillaVTI</vt:lpstr>
      <vt:lpstr>Messaging &amp; Message Queue Fundamentals</vt:lpstr>
      <vt:lpstr>Agenda</vt:lpstr>
      <vt:lpstr>The World We Know: Synchronous Processing</vt:lpstr>
      <vt:lpstr>What's Wrong with This?</vt:lpstr>
      <vt:lpstr>The Solution: Think Asynchronously</vt:lpstr>
      <vt:lpstr>What is Messaging?</vt:lpstr>
      <vt:lpstr>Core Concepts</vt:lpstr>
      <vt:lpstr>Message Flow — How It Works</vt:lpstr>
      <vt:lpstr>Exchange Types (RabbitMQ)</vt:lpstr>
      <vt:lpstr>Delivery Guarantees</vt:lpstr>
      <vt:lpstr>When to Use Message Queues?</vt:lpstr>
      <vt:lpstr>Architecture: Before vs After</vt:lpstr>
      <vt:lpstr>Architecture: Before vs After</vt:lpstr>
      <vt:lpstr>Our Demo System</vt:lpstr>
      <vt:lpstr>What We'll See in the Demo</vt:lpstr>
      <vt:lpstr>Live Demo</vt:lpstr>
      <vt:lpstr>Key Takeaways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175</cp:revision>
  <dcterms:created xsi:type="dcterms:W3CDTF">2026-03-25T13:05:18Z</dcterms:created>
  <dcterms:modified xsi:type="dcterms:W3CDTF">2026-03-26T07:49:24Z</dcterms:modified>
</cp:coreProperties>
</file>